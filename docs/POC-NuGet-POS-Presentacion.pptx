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6000" b="1">
                <a:solidFill>
                  <a:srgbClr val="FFFFFF"/>
                </a:solidFill>
              </a:defRPr>
            </a:pPr>
            <a:r>
              <a:t>POC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600" b="0">
                <a:solidFill>
                  <a:srgbClr val="BBDEFB"/>
                </a:solidFill>
              </a:defRPr>
            </a:pPr>
            <a:r>
              <a:t>Distribución de Módulos POS</a:t>
            </a:r>
          </a:p>
          <a:p>
            <a:pPr>
              <a:spcAft>
                <a:spcPts val="800"/>
              </a:spcAft>
              <a:defRPr sz="3600" b="0">
                <a:solidFill>
                  <a:srgbClr val="BBDEFB"/>
                </a:solidFill>
              </a:defRPr>
            </a:pPr>
            <a:r>
              <a:t>via NuGet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400" b="0">
                <a:solidFill>
                  <a:srgbClr val="90CAF9"/>
                </a:solidFill>
              </a:defRPr>
            </a:pPr>
            <a:r>
              <a:t>Un solo código → múltiples despliegues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64B5F6"/>
                </a:solidFill>
              </a:defRPr>
            </a:pPr>
            <a:r>
              <a:t>SIESA  •  Equipo Técnico  •  Marzo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El Problema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El POS necesita correr en tiendas físicas (offline) Y en la nube (centralizado)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Hoy: código duplicado entre proyectos para cada contexto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Cambios se aplican manualmente → inconsistencias y bugs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Sin estrategia de distribución: cada host es un proyecto independiente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Esfuerzo duplicado de desarrollo y mantenimiento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0" y="4114800"/>
            <a:ext cx="3200400" cy="1645920"/>
          </a:xfrm>
          <a:prstGeom prst="roundRect">
            <a:avLst/>
          </a:prstGeom>
          <a:solidFill>
            <a:srgbClr val="FFEBEE"/>
          </a:solidFill>
          <a:ln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C62828"/>
                </a:solidFill>
              </a:defRPr>
            </a:pPr>
            <a:r>
              <a:t>RESULTADO</a:t>
            </a:r>
          </a:p>
          <a:p>
            <a:pPr algn="ctr">
              <a:defRPr sz="1600">
                <a:solidFill>
                  <a:srgbClr val="C62828"/>
                </a:solidFill>
              </a:defRPr>
            </a:pPr>
            <a:r>
              <a:t>Inconsistencias, bugs,</a:t>
            </a:r>
          </a:p>
          <a:p>
            <a:pPr algn="ctr">
              <a:defRPr sz="1600">
                <a:solidFill>
                  <a:srgbClr val="C62828"/>
                </a:solidFill>
              </a:defRPr>
            </a:pPr>
            <a:r>
              <a:t>esfuerzo duplicado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La Propuesta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BBDEFB"/>
                </a:solidFill>
              </a:defRPr>
            </a:pPr>
            <a:r>
              <a:t>Un solo repositorio, múltiples despliegues via NuGet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2743200" cy="1371600"/>
          </a:xfrm>
          <a:prstGeom prst="roundRect">
            <a:avLst/>
          </a:prstGeom>
          <a:solidFill>
            <a:srgbClr val="F3E5F5"/>
          </a:solidFill>
          <a:ln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33333"/>
                </a:solidFill>
              </a:defRPr>
            </a:pPr>
            <a:r>
              <a:t>Código Fuente</a:t>
            </a:r>
          </a:p>
          <a:p>
            <a:pPr algn="ctr">
              <a:defRPr sz="1400">
                <a:solidFill>
                  <a:srgbClr val="333333"/>
                </a:solidFill>
              </a:defRPr>
            </a:pPr>
            <a:r>
              <a:t>(Módulos)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0" y="210312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666666"/>
                </a:solidFill>
              </a:defRPr>
            </a:pPr>
            <a: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0" y="1828800"/>
            <a:ext cx="2743200" cy="1371600"/>
          </a:xfrm>
          <a:prstGeom prst="roundRect">
            <a:avLst/>
          </a:prstGeom>
          <a:solidFill>
            <a:srgbClr val="FFF9C4"/>
          </a:solidFill>
          <a:ln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33333"/>
                </a:solidFill>
              </a:defRPr>
            </a:pPr>
            <a:r>
              <a:t>dotnet pack</a:t>
            </a:r>
          </a:p>
          <a:p>
            <a:pPr algn="ctr">
              <a:defRPr sz="1400">
                <a:solidFill>
                  <a:srgbClr val="333333"/>
                </a:solidFill>
              </a:defRPr>
            </a:pPr>
            <a:r>
              <a:t>8 paquetes NuGet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0" y="210312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666666"/>
                </a:solidFill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0" y="1828800"/>
            <a:ext cx="2743200" cy="1371600"/>
          </a:xfrm>
          <a:prstGeom prst="roundRect">
            <a:avLst/>
          </a:prstGeom>
          <a:solidFill>
            <a:srgbClr val="FFE0B2"/>
          </a:solidFill>
          <a:ln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33333"/>
                </a:solidFill>
              </a:defRPr>
            </a:pPr>
            <a:r>
              <a:t>NuGet Feed</a:t>
            </a:r>
          </a:p>
          <a:p>
            <a:pPr algn="ctr">
              <a:defRPr sz="1400">
                <a:solidFill>
                  <a:srgbClr val="333333"/>
                </a:solidFill>
              </a:defRPr>
            </a:pPr>
            <a:r>
              <a:t>(Local / GitHub)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28800" y="4114800"/>
            <a:ext cx="3657600" cy="1645920"/>
          </a:xfrm>
          <a:prstGeom prst="roundRect">
            <a:avLst/>
          </a:prstGeom>
          <a:solidFill>
            <a:srgbClr val="E3F2FD"/>
          </a:solidFill>
          <a:ln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33333"/>
                </a:solidFill>
              </a:defRPr>
            </a:pPr>
            <a:r>
              <a:t>CloudHub (Nube)</a:t>
            </a:r>
          </a:p>
          <a:p>
            <a:pPr algn="ctr">
              <a:defRPr sz="1400">
                <a:solidFill>
                  <a:srgbClr val="333333"/>
                </a:solidFill>
              </a:defRPr>
            </a:pPr>
            <a:r>
              <a:t>Todos los módulos</a:t>
            </a:r>
          </a:p>
          <a:p>
            <a:pPr algn="ctr">
              <a:defRPr sz="1400">
                <a:solidFill>
                  <a:srgbClr val="333333"/>
                </a:solidFill>
              </a:defRPr>
            </a:pPr>
            <a:r>
              <a:t>Source of truth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4114800"/>
            <a:ext cx="3657600" cy="1645920"/>
          </a:xfrm>
          <a:prstGeom prst="roundRect">
            <a:avLst/>
          </a:prstGeom>
          <a:solidFill>
            <a:srgbClr val="E8F5E9"/>
          </a:solidFill>
          <a:ln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33333"/>
                </a:solidFill>
              </a:defRPr>
            </a:pPr>
            <a:r>
              <a:t>LocalPOS (Tienda)</a:t>
            </a:r>
          </a:p>
          <a:p>
            <a:pPr algn="ctr">
              <a:defRPr sz="1400">
                <a:solidFill>
                  <a:srgbClr val="333333"/>
                </a:solidFill>
              </a:defRPr>
            </a:pPr>
            <a:r>
              <a:t>Subset de módulos</a:t>
            </a:r>
          </a:p>
          <a:p>
            <a:pPr algn="ctr">
              <a:defRPr sz="1400">
                <a:solidFill>
                  <a:srgbClr val="333333"/>
                </a:solidFill>
              </a:defRPr>
            </a:pPr>
            <a:r>
              <a:t>Offline-first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33832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666666"/>
                </a:solidFill>
              </a:defRPr>
            </a:pPr>
            <a:r>
              <a:t>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3832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666666"/>
                </a:solidFill>
              </a:defRPr>
            </a:pPr>
            <a:r>
              <a:t>↓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Arquitectura General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BBDEFB"/>
                </a:solidFill>
              </a:defRPr>
            </a:pPr>
            <a:r>
              <a:t>CloudHub (nube central) ↔ LocalPOS (tienda)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029200" cy="2286000"/>
          </a:xfrm>
          <a:prstGeom prst="roundRect">
            <a:avLst/>
          </a:prstGeom>
          <a:solidFill>
            <a:srgbClr val="E3F2FD"/>
          </a:solidFill>
          <a:ln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333333"/>
                </a:solidFill>
              </a:defRPr>
            </a:pPr>
            <a:r>
              <a:t>☁️ CLOUD HUB (:5200)</a:t>
            </a:r>
          </a:p>
          <a:p>
            <a:pPr algn="ctr">
              <a:defRPr sz="1600">
                <a:solidFill>
                  <a:srgbClr val="333333"/>
                </a:solidFill>
              </a:defRPr>
            </a:pPr>
            <a:r>
              <a:t>Orders + Products + Payments</a:t>
            </a:r>
          </a:p>
          <a:p>
            <a:pPr algn="ctr">
              <a:defRPr sz="1600">
                <a:solidFill>
                  <a:srgbClr val="333333"/>
                </a:solidFill>
              </a:defRPr>
            </a:pPr>
            <a:r>
              <a:t>+ Sync Receivers</a:t>
            </a:r>
          </a:p>
          <a:p>
            <a:pPr algn="ctr">
              <a:defRPr sz="1600">
                <a:solidFill>
                  <a:srgbClr val="333333"/>
                </a:solidFill>
              </a:defRPr>
            </a:pPr>
            <a:r>
              <a:t>+ (Reportes, Admin, Analytics...)</a:t>
            </a:r>
          </a:p>
          <a:p>
            <a:pPr algn="ctr">
              <a:defRPr sz="1600">
                <a:solidFill>
                  <a:srgbClr val="333333"/>
                </a:solidFill>
              </a:defRPr>
            </a:pPr>
            <a:r>
              <a:t>DB: pos_cloud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EF6C00"/>
                </a:solidFill>
              </a:defRPr>
            </a:pPr>
            <a:r>
              <a:t>🌐  INTERNET (puede caerse en cualquier momento)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389120"/>
            <a:ext cx="5029200" cy="1828800"/>
          </a:xfrm>
          <a:prstGeom prst="roundRect">
            <a:avLst/>
          </a:prstGeom>
          <a:solidFill>
            <a:srgbClr val="E8F5E9"/>
          </a:solidFill>
          <a:ln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333333"/>
                </a:solidFill>
              </a:defRPr>
            </a:pPr>
            <a:r>
              <a:t>🏪 LOCAL POS (:5100)</a:t>
            </a:r>
          </a:p>
          <a:p>
            <a:pPr algn="ctr">
              <a:defRPr sz="1600">
                <a:solidFill>
                  <a:srgbClr val="333333"/>
                </a:solidFill>
              </a:defRPr>
            </a:pPr>
            <a:r>
              <a:t>Orders + Products + Payments</a:t>
            </a:r>
          </a:p>
          <a:p>
            <a:pPr algn="ctr">
              <a:defRPr sz="1600">
                <a:solidFill>
                  <a:srgbClr val="333333"/>
                </a:solidFill>
              </a:defRPr>
            </a:pPr>
            <a:r>
              <a:t>+ Sync Worker (Outbox)</a:t>
            </a:r>
          </a:p>
          <a:p>
            <a:pPr algn="ctr">
              <a:defRPr sz="1600">
                <a:solidFill>
                  <a:srgbClr val="333333"/>
                </a:solidFill>
              </a:defRPr>
            </a:pPr>
            <a:r>
              <a:t>DB: pos_local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37160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CloudHub: sistema central con TODOS los módulos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LocalPOS: POS de tienda con módulos necesarios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Sync: local → cloud via Outbox Pattern (cada 10s)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Ambos comparten el MISMO código (NuGet packages)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En producción: CloudHub tendría más módulos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Módulos NuGet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BBDEFB"/>
                </a:solidFill>
              </a:defRPr>
            </a:pPr>
            <a:r>
              <a:t>8 paquetes distribuibles independientemente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09728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Paquete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Tipo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Contenido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Pos.SharedKernel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Shared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BaseEntity, ULID, IEventBus, SyncOutbox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Pos.Infrastructure.Postgres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Infrastructure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MigrationRunner, EF Core config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Pos.Orders.Contracts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Contracts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OrderDto, IOrderRepository, requests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Pos.Orders.Core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Order entity, EfOrderRepository, endpoints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Pos.Products.Contracts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Contracts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ProductDto, CategoryDto, interfaces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Pos.Products.Core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Product/Category entities, repos, endpoints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Pos.Payments.Contracts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Contracts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PaymentDto, IPaymentRepository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Pos.Payments.Core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Payment entity, EfPaymentRepository, endpoints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6692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666666"/>
                </a:solidFill>
              </a:defRPr>
            </a:pPr>
            <a:r>
              <a:t>Cada módulo se divide en Contracts (interfaces + DTOs) y Core (implementación).</a:t>
            </a:r>
          </a:p>
          <a:p>
            <a:pPr>
              <a:spcAft>
                <a:spcPts val="800"/>
              </a:spcAft>
              <a:defRPr sz="1400" b="0">
                <a:solidFill>
                  <a:srgbClr val="666666"/>
                </a:solidFill>
              </a:defRPr>
            </a:pPr>
            <a:r>
              <a:t>Los consumidores pueden depender solo de Contracts para bajo acoplamiento.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NuGet Dual-Mode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BBDEFB"/>
                </a:solidFill>
              </a:defRPr>
            </a:pPr>
            <a:r>
              <a:t>El mecanismo central del POC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333333"/>
                </a:solidFill>
              </a:defRPr>
            </a:pPr>
            <a:r>
              <a:t>Directory.Build.props controla cómo se resuelven las dependencias: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2103120"/>
          <a:ext cx="10972800" cy="16459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548639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Modo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Flag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Dependencias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Uso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Desarrollo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UseProjectReference=true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ProjectReference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Debug directo en módulos, F12 al código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48641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CI/CD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UseProjectReference=false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PackageReference (NuGet)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Distribución via paquetes publicados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3474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333333"/>
                </a:solidFill>
              </a:defRPr>
            </a:pPr>
            <a:r>
              <a:t>Cómo funciona: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8404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Cada .csproj tiene un bloque &lt;Choose&gt; con ambas opciones (ProjectRef y PackageRef)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Directory.Build.props define el default: UseProjectReference=true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En CI/CD se pasa -p:UseProjectReference=false para forzar modo NuGet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Los hosts NO saben si consumen código fuente o paquetes — es transparente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PosModuleVersion centraliza la versión para que pack y restore coincidan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Sincronización: Outbox Pattern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BBDEFB"/>
                </a:solidFill>
              </a:defRPr>
            </a:pPr>
            <a:r>
              <a:t>Local-first + consistencia eventual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029200" cy="1371600"/>
          </a:xfrm>
          <a:prstGeom prst="roundRect">
            <a:avLst/>
          </a:prstGeom>
          <a:solidFill>
            <a:srgbClr val="FFF3E0"/>
          </a:solidFill>
          <a:ln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33333"/>
                </a:solidFill>
              </a:defRPr>
            </a:pPr>
            <a:r>
              <a:t>FLUJO 1: Write Path (&lt;1ms)</a:t>
            </a:r>
          </a:p>
          <a:p>
            <a:pPr algn="ctr">
              <a:defRPr sz="1400">
                <a:solidFill>
                  <a:srgbClr val="333333"/>
                </a:solidFill>
              </a:defRPr>
            </a:pPr>
            <a:r>
              <a:t>POS → API → Repository → TRANSACCIÓN:</a:t>
            </a:r>
          </a:p>
          <a:p>
            <a:pPr algn="ctr">
              <a:defRPr sz="1400">
                <a:solidFill>
                  <a:srgbClr val="333333"/>
                </a:solidFill>
              </a:defRPr>
            </a:pPr>
            <a:r>
              <a:t>INSERT dominio + INSERT outbox → 200 OK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017520"/>
            <a:ext cx="5029200" cy="1554480"/>
          </a:xfrm>
          <a:prstGeom prst="roundRect">
            <a:avLst/>
          </a:prstGeom>
          <a:solidFill>
            <a:srgbClr val="E8EAF6"/>
          </a:solidFill>
          <a:ln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33333"/>
                </a:solidFill>
              </a:defRPr>
            </a:pPr>
            <a:r>
              <a:t>FLUJO 2: Sync Push (cada 10s)</a:t>
            </a:r>
          </a:p>
          <a:p>
            <a:pPr algn="ctr">
              <a:defRPr sz="1400">
                <a:solidFill>
                  <a:srgbClr val="333333"/>
                </a:solidFill>
              </a:defRPr>
            </a:pPr>
            <a:r>
              <a:t>Timer → ¿Internet? → SELECT outbox</a:t>
            </a:r>
          </a:p>
          <a:p>
            <a:pPr algn="ctr">
              <a:defRPr sz="1400">
                <a:solidFill>
                  <a:srgbClr val="333333"/>
                </a:solidFill>
              </a:defRPr>
            </a:pPr>
            <a:r>
              <a:t>WHERE synced_at IS NULL LIMIT 50</a:t>
            </a:r>
          </a:p>
          <a:p>
            <a:pPr algn="ctr">
              <a:defRPr sz="1400">
                <a:solidFill>
                  <a:srgbClr val="333333"/>
                </a:solidFill>
              </a:defRPr>
            </a:pPr>
            <a:r>
              <a:t>→ POST CloudHub → UPDATE synced_at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846320"/>
            <a:ext cx="5029200" cy="1371600"/>
          </a:xfrm>
          <a:prstGeom prst="roundRect">
            <a:avLst/>
          </a:prstGeom>
          <a:solidFill>
            <a:srgbClr val="FCE4EC"/>
          </a:solidFill>
          <a:ln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33333"/>
                </a:solidFill>
              </a:defRPr>
            </a:pPr>
            <a:r>
              <a:t>FLUJO 3: Pull Path (futuro)</a:t>
            </a:r>
          </a:p>
          <a:p>
            <a:pPr algn="ctr">
              <a:defRPr sz="1400">
                <a:solidFill>
                  <a:srgbClr val="333333"/>
                </a:solidFill>
              </a:defRPr>
            </a:pPr>
            <a:r>
              <a:t>Cloud → GET /changes?since=watermark</a:t>
            </a:r>
          </a:p>
          <a:p>
            <a:pPr algn="ctr">
              <a:defRPr sz="1400">
                <a:solidFill>
                  <a:srgbClr val="333333"/>
                </a:solidFill>
              </a:defRPr>
            </a:pPr>
            <a:r>
              <a:t>→ Local UPSERT</a:t>
            </a:r>
          </a:p>
          <a:p>
            <a:pPr algn="ctr">
              <a:defRPr sz="1400">
                <a:solidFill>
                  <a:srgbClr val="333333"/>
                </a:solidFill>
              </a:defRPr>
            </a:pPr>
            <a:r>
              <a:t>⚠️ No implementado en POC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333333"/>
                </a:solidFill>
              </a:defRPr>
            </a:pPr>
            <a:r>
              <a:t>Conceptos clave: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201168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• Local-first: la operación local completa en &lt;1ms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• Idempotencia: UPSERT por ULID primary key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• Tolerancia a fallas: si cloud cae, outbox retiene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• Retry automático en el siguiente ciclo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• Sin infraestructura adicional (usa la misma DB)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• Datos Local→Cloud: órdenes, productos, pagos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• Datos Cloud→Local: catálogos, precios (futuro)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Demo: Paso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BBDEFB"/>
                </a:solidFill>
              </a:defRPr>
            </a:pPr>
            <a:r>
              <a:t>Levantar el entorno con NuGet real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333333"/>
                </a:solidFill>
              </a:defRPr>
            </a:pPr>
            <a:r>
              <a:t>1. Levantar PostgreSQL: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5486400" cy="548640"/>
          </a:xfrm>
          <a:prstGeom prst="roundRect">
            <a:avLst/>
          </a:prstGeom>
          <a:solidFill>
            <a:srgbClr val="263238"/>
          </a:solidFill>
          <a:ln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docker-compose up -d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517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333333"/>
                </a:solidFill>
              </a:defRPr>
            </a:pPr>
            <a:r>
              <a:t>2. Empaquetar módulos como NuGet: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108960"/>
            <a:ext cx="7315200" cy="822960"/>
          </a:xfrm>
          <a:prstGeom prst="roundRect">
            <a:avLst/>
          </a:prstGeom>
          <a:solidFill>
            <a:srgbClr val="263238"/>
          </a:solidFill>
          <a:ln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dotnet pack -c Release</a:t>
            </a:r>
          </a:p>
          <a:p>
            <a:pPr algn="ctr">
              <a:defRPr sz="1600">
                <a:solidFill>
                  <a:srgbClr val="FFFFFF"/>
                </a:solidFill>
              </a:defRPr>
            </a:pPr>
            <a:r>
              <a:t>ls artifacts/nupkg/   # → 8 paquetes .nupkg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2062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333333"/>
                </a:solidFill>
              </a:defRPr>
            </a:pPr>
            <a:r>
              <a:t>3. Arrancar hosts consumiendo NuGet (NO código fuente):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663440"/>
            <a:ext cx="10058400" cy="1645920"/>
          </a:xfrm>
          <a:prstGeom prst="roundRect">
            <a:avLst/>
          </a:prstGeom>
          <a:solidFill>
            <a:srgbClr val="263238"/>
          </a:solidFill>
          <a:ln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# Terminal 1 (Cloud Hub)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dotnet run --project src/Hosts/Pos.Host.CloudHub -c Release -p:UseProjectReference=false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# Terminal 2 (Local POS)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dotnet run --project src/Hosts/Pos.Host.LocalPOS -c Release -p:UseProjectReference=false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0" y="1371600"/>
            <a:ext cx="3017520" cy="1371600"/>
          </a:xfrm>
          <a:prstGeom prst="roundRect">
            <a:avLst/>
          </a:prstGeom>
          <a:solidFill>
            <a:srgbClr val="FFF9C4"/>
          </a:solidFill>
          <a:ln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33333"/>
                </a:solidFill>
              </a:defRPr>
            </a:pPr>
            <a:r>
              <a:t>El flag -p:UseProjectReference=false</a:t>
            </a:r>
          </a:p>
          <a:p>
            <a:pPr algn="ctr">
              <a:defRPr sz="1300">
                <a:solidFill>
                  <a:srgbClr val="333333"/>
                </a:solidFill>
              </a:defRPr>
            </a:pPr>
            <a:r>
              <a:t>hace que los hosts consuman</a:t>
            </a:r>
          </a:p>
          <a:p>
            <a:pPr algn="ctr">
              <a:defRPr sz="1300">
                <a:solidFill>
                  <a:srgbClr val="333333"/>
                </a:solidFill>
              </a:defRPr>
            </a:pPr>
            <a:r>
              <a:t>los .nupkg del feed local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Demo: Paso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BBDEFB"/>
                </a:solidFill>
              </a:defRPr>
            </a:pPr>
            <a:r>
              <a:t>CRUD en POS local + Sync automático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333333"/>
                </a:solidFill>
              </a:defRPr>
            </a:pPr>
            <a:r>
              <a:t>Crear datos en LocalPOS (localhost:5100):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POST /api/categories → Crear categoría 'Bebidas'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POST /api/products → Crear producto 'Café Americano' ($5,500)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POST /api/orders → Crear orden con líneas de productos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POST /api/orders/{id}/close → Cerrar la orden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POST /api/payments → Registrar pago en efectivo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333333"/>
                </a:solidFill>
              </a:defRPr>
            </a:pPr>
            <a:r>
              <a:t>Esperar ~10 segundos y verificar en CloudHub (localhost:5200):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663440"/>
            <a:ext cx="9144000" cy="822960"/>
          </a:xfrm>
          <a:prstGeom prst="roundRect">
            <a:avLst/>
          </a:prstGeom>
          <a:solidFill>
            <a:srgbClr val="263238"/>
          </a:solidFill>
          <a:ln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curl http://localhost:5200/api/products   # ¡Producto aparece!</a:t>
            </a:r>
          </a:p>
          <a:p>
            <a:pPr algn="ctr">
              <a:defRPr sz="1600">
                <a:solidFill>
                  <a:srgbClr val="FFFFFF"/>
                </a:solidFill>
              </a:defRPr>
            </a:pPr>
            <a:r>
              <a:t>curl http://localhost:5200/api/orders     # ¡Orden aparece!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3657600"/>
            <a:ext cx="3474720" cy="1371600"/>
          </a:xfrm>
          <a:prstGeom prst="roundRect">
            <a:avLst/>
          </a:prstGeom>
          <a:solidFill>
            <a:srgbClr val="E8F5E9"/>
          </a:solidFill>
          <a:ln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E7D32"/>
                </a:solidFill>
              </a:defRPr>
            </a:pPr>
            <a:r>
              <a:t>Los datos creados</a:t>
            </a:r>
          </a:p>
          <a:p>
            <a:pPr algn="ctr">
              <a:defRPr sz="1400">
                <a:solidFill>
                  <a:srgbClr val="2E7D32"/>
                </a:solidFill>
              </a:defRPr>
            </a:pPr>
            <a:r>
              <a:t>en la tienda (:5100)</a:t>
            </a:r>
          </a:p>
          <a:p>
            <a:pPr algn="ctr">
              <a:defRPr sz="1400">
                <a:solidFill>
                  <a:srgbClr val="2E7D32"/>
                </a:solidFill>
              </a:defRPr>
            </a:pPr>
            <a:r>
              <a:t>aparecen en la nube (:5200)</a:t>
            </a:r>
          </a:p>
          <a:p>
            <a:pPr algn="ctr">
              <a:defRPr sz="1400">
                <a:solidFill>
                  <a:srgbClr val="2E7D32"/>
                </a:solidFill>
              </a:defRPr>
            </a:pPr>
            <a:r>
              <a:t>automáticamente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Demo: Paso 3 — Cambio en Vivo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BBDEFB"/>
                </a:solidFill>
              </a:defRPr>
            </a:pPr>
            <a:r>
              <a:t>Modificar módulo → re-pack → ambos hosts actualizados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333333"/>
                </a:solidFill>
              </a:defRPr>
            </a:pPr>
            <a:r>
              <a:t>1. Detener ambos hosts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333333"/>
                </a:solidFill>
              </a:defRPr>
            </a:pPr>
            <a:r>
              <a:t>2. Agregar campo 'PriceFormatted' al ProductDto (1 archivo) + ToDto (1 archivo)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031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333333"/>
                </a:solidFill>
              </a:defRPr>
            </a:pPr>
            <a:r>
              <a:t>3. Re-empaquetar y re-arrancar: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560320"/>
            <a:ext cx="9144000" cy="1188720"/>
          </a:xfrm>
          <a:prstGeom prst="roundRect">
            <a:avLst/>
          </a:prstGeom>
          <a:solidFill>
            <a:srgbClr val="263238"/>
          </a:solidFill>
          <a:ln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dotnet pack -c Release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dotnet run --project src/Hosts/Pos.Host.CloudHub -c Release -p:UseProjectReference=false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dotnet run --project src/Hosts/Pos.Host.LocalPOS -c Release -p:UseProjectReference=false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931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333333"/>
                </a:solidFill>
              </a:defRPr>
            </a:pPr>
            <a:r>
              <a:t>4. Verificar: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389120"/>
            <a:ext cx="9144000" cy="822960"/>
          </a:xfrm>
          <a:prstGeom prst="roundRect">
            <a:avLst/>
          </a:prstGeom>
          <a:solidFill>
            <a:srgbClr val="263238"/>
          </a:solidFill>
          <a:ln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curl localhost:5100/api/products | jq '.[0].priceFormatted'   # → "$5,500 COP"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curl localhost:5200/api/products | jq '.[0].priceFormatted'   # → "$5,500 COP"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0" y="1371600"/>
            <a:ext cx="3931920" cy="2743200"/>
          </a:xfrm>
          <a:prstGeom prst="roundRect">
            <a:avLst/>
          </a:prstGeom>
          <a:solidFill>
            <a:srgbClr val="FFF9C4"/>
          </a:solidFill>
          <a:ln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33333"/>
                </a:solidFill>
              </a:defRPr>
            </a:pPr>
            <a:r>
              <a:t>Se modificó el código</a:t>
            </a:r>
          </a:p>
          <a:p>
            <a:pPr algn="ctr">
              <a:defRPr sz="1300">
                <a:solidFill>
                  <a:srgbClr val="333333"/>
                </a:solidFill>
              </a:defRPr>
            </a:pPr>
            <a:r>
              <a:t>en UN solo lugar.</a:t>
            </a:r>
          </a:p>
          <a:p>
            <a:pPr algn="ctr">
              <a:defRPr sz="1300">
                <a:solidFill>
                  <a:srgbClr val="333333"/>
                </a:solidFill>
              </a:defRPr>
            </a:pPr>
            <a:r>
              <a:t>Se re-empaquetó como NuGet.</a:t>
            </a:r>
          </a:p>
          <a:p>
            <a:pPr algn="ctr">
              <a:defRPr sz="1300">
                <a:solidFill>
                  <a:srgbClr val="333333"/>
                </a:solidFill>
              </a:defRPr>
            </a:pPr>
            <a:r>
              <a:t>AMBOS hosts muestran</a:t>
            </a:r>
          </a:p>
          <a:p>
            <a:pPr algn="ctr">
              <a:defRPr sz="1300">
                <a:solidFill>
                  <a:srgbClr val="333333"/>
                </a:solidFill>
              </a:defRPr>
            </a:pPr>
            <a:r>
              <a:t>el nuevo campo.</a:t>
            </a:r>
          </a:p>
          <a:p>
            <a:pPr algn="ctr">
              <a:defRPr sz="1300">
                <a:solidFill>
                  <a:srgbClr val="333333"/>
                </a:solidFill>
              </a:defRPr>
            </a:pPr>
          </a:p>
          <a:p>
            <a:pPr algn="ctr">
              <a:defRPr sz="1300">
                <a:solidFill>
                  <a:srgbClr val="333333"/>
                </a:solidFill>
              </a:defRPr>
            </a:pPr>
            <a:r>
              <a:t>Esto es exactamente lo que</a:t>
            </a:r>
          </a:p>
          <a:p>
            <a:pPr algn="ctr">
              <a:defRPr sz="1300">
                <a:solidFill>
                  <a:srgbClr val="333333"/>
                </a:solidFill>
              </a:defRPr>
            </a:pPr>
            <a:r>
              <a:t>haría CI/CD en producción.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Demo: Paso 4 — Resiliencia Offline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BBDEFB"/>
                </a:solidFill>
              </a:defRPr>
            </a:pPr>
            <a:r>
              <a:t>¿Qué pasa si la nube se cae?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1. Detener CloudHub (Ctrl+C)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2. Crear un producto nuevo en LocalPOS → funciona normalmente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3. Logs muestran: 'Cloud unreachable... will retry next cycle'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4. Re-arrancar CloudHub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5. En ~10 segundos el producto se sincroniza automáticamente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3200400"/>
            <a:ext cx="4572000" cy="2743200"/>
          </a:xfrm>
          <a:prstGeom prst="roundRect">
            <a:avLst/>
          </a:prstGeom>
          <a:solidFill>
            <a:srgbClr val="E8F5E9"/>
          </a:solidFill>
          <a:ln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E7D32"/>
                </a:solidFill>
              </a:defRPr>
            </a:pPr>
            <a:r>
              <a:t>CONCLUSIÓN</a:t>
            </a:r>
          </a:p>
          <a:p>
            <a:pPr algn="ctr">
              <a:defRPr sz="1600">
                <a:solidFill>
                  <a:srgbClr val="2E7D32"/>
                </a:solidFill>
              </a:defRPr>
            </a:pPr>
          </a:p>
          <a:p>
            <a:pPr algn="ctr">
              <a:defRPr sz="1600">
                <a:solidFill>
                  <a:srgbClr val="2E7D32"/>
                </a:solidFill>
              </a:defRPr>
            </a:pPr>
            <a:r>
              <a:t>Si la nube se cae:</a:t>
            </a:r>
          </a:p>
          <a:p>
            <a:pPr algn="ctr">
              <a:defRPr sz="1600">
                <a:solidFill>
                  <a:srgbClr val="2E7D32"/>
                </a:solidFill>
              </a:defRPr>
            </a:pPr>
            <a:r>
              <a:t>• El POS sigue funcionando</a:t>
            </a:r>
          </a:p>
          <a:p>
            <a:pPr algn="ctr">
              <a:defRPr sz="1600">
                <a:solidFill>
                  <a:srgbClr val="2E7D32"/>
                </a:solidFill>
              </a:defRPr>
            </a:pPr>
            <a:r>
              <a:t>• Los datos NO se pierden</a:t>
            </a:r>
          </a:p>
          <a:p>
            <a:pPr algn="ctr">
              <a:defRPr sz="1600">
                <a:solidFill>
                  <a:srgbClr val="2E7D32"/>
                </a:solidFill>
              </a:defRPr>
            </a:pPr>
            <a:r>
              <a:t>• El outbox retiene todo</a:t>
            </a:r>
          </a:p>
          <a:p>
            <a:pPr algn="ctr">
              <a:defRPr sz="1600">
                <a:solidFill>
                  <a:srgbClr val="2E7D32"/>
                </a:solidFill>
              </a:defRPr>
            </a:pPr>
            <a:r>
              <a:t>• Sync automático al reconectar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Pros y Contras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097280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5943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Pros ✅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Contras ⚠️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Código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Una sola base de código para todos los contextos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Requiere CI/CD configurado para distribución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Desarrollo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Debug directo con ProjectReference (F12)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Developers deben entender el mecanismo dual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Distribución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Versionado semántico via NuGet nativo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Version drift si hosts no se actualizan juntos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Sync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Local-first, tolerante a fallas, sin infra extra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Polling (10s latencia), sin DLQ, sin retry avanzado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Módulos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Desacoplados, cada uno con su schema DB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Sin FK cross-schema (by design)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Evolución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Path gradual a microservicios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Requiere disciplina en las interfaces (Contracts)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Riesgos y Mitigaciones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097280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5943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Riesgo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Prob.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Impacto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Mitigación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Version drift entre módulos NuGet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Alta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Alto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Versión centralizada en Directory.Build.props + CI valida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Pérdida de datos en sync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Media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Alto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Marcar synced DESPUÉS de ACK + upsert idempotente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Sin autenticación en endpoints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Alta (POC)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Alto (Prod)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API key como primer paso post-MVP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Sync entries acumuladas (sin DLQ)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Media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Medio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Monitoreo + DLQ post-MVP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.NET 10 / EF Core 10 estabilidad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Media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Medio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Versiones fijas + rollback path a .NET 9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Breaking changes en Contracts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Media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Alto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Semantic versioning + CI que compila consumidores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943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666666"/>
                </a:solidFill>
              </a:defRPr>
            </a:pPr>
            <a:r>
              <a:t>Ver docs/risk-matrix.md para análisis detallado con propuestas post-MVP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Decisiones Arquitectónicas (ADRs)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09728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64008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ADR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Decisión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Alternativas descartadas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001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Modular Monolith + NuGet Distribution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Microservicios, Git submodules, shared library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Outbox Pattern (polling) para sync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CDC/Debezium, HTTP directo, Event Sourcing, RabbitMQ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003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Multi-Schema PostgreSQL por módulo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DBs separadas, schema único, prefijos de tabla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3474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333333"/>
                </a:solidFill>
              </a:defRPr>
            </a:pPr>
            <a:r>
              <a:t>¿Por qué NuGet y no microservicios?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9319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Microservicios requieren: API Gateway, message broker, service mesh, service discovery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Overhead de infraestructura desproporcionado para el tamaño actual del equipo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Riesgo de 'distributed monolith' si no se hace bien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NuGet ofrece distribución SIN el overhead → path gradual a microservicios cuando sea necesario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Stack Técnico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09728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Componente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Tecnología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Versión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Rol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Runtime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.NET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10.0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Framework principal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Entity Framework 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10.0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Acceso a datos, multi-schema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Base de datos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PostgreSQL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17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Almacenamiento, schemas aislados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IDs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ULID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1.3.4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Identificadores ordenables por tiempo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API Docs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Scalar (OpenAPI)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2.6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UI interactiva para explorar APIs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Paquetes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NuGet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Distribución de módulos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CI/CD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GitHub Actions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Pack + Push + Validate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Contenedores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Docker Compose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PostgreSQL local para desarrollo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Patrones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Records inmutables (C#)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Sin mutación, thread-safe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Roadmap Post-MVP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2743200" cy="2743200"/>
          </a:xfrm>
          <a:prstGeom prst="roundRect">
            <a:avLst/>
          </a:prstGeom>
          <a:solidFill>
            <a:srgbClr val="E3F2FD"/>
          </a:solidFill>
          <a:ln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33333"/>
                </a:solidFill>
              </a:defRPr>
            </a:pPr>
            <a:r>
              <a:t>FASE 1: Hardening</a:t>
            </a:r>
          </a:p>
          <a:p>
            <a:pPr algn="ctr">
              <a:defRPr sz="1300">
                <a:solidFill>
                  <a:srgbClr val="333333"/>
                </a:solidFill>
              </a:defRPr>
            </a:pPr>
          </a:p>
          <a:p>
            <a:pPr algn="ctr">
              <a:defRPr sz="1300">
                <a:solidFill>
                  <a:srgbClr val="333333"/>
                </a:solidFill>
              </a:defRPr>
            </a:pPr>
            <a:r>
              <a:t>• Autenticación (JWT + API key)</a:t>
            </a:r>
          </a:p>
          <a:p>
            <a:pPr algn="ctr">
              <a:defRPr sz="1300">
                <a:solidFill>
                  <a:srgbClr val="333333"/>
                </a:solidFill>
              </a:defRPr>
            </a:pPr>
            <a:r>
              <a:t>• Input validation (FluentValidation)</a:t>
            </a:r>
          </a:p>
          <a:p>
            <a:pPr algn="ctr">
              <a:defRPr sz="1300">
                <a:solidFill>
                  <a:srgbClr val="333333"/>
                </a:solidFill>
              </a:defRPr>
            </a:pPr>
            <a:r>
              <a:t>• EF Core Migrations</a:t>
            </a:r>
          </a:p>
          <a:p>
            <a:pPr algn="ctr">
              <a:defRPr sz="1300">
                <a:solidFill>
                  <a:srgbClr val="333333"/>
                </a:solidFill>
              </a:defRPr>
            </a:pPr>
            <a:r>
              <a:t>• Rate limiting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83280" y="1371600"/>
            <a:ext cx="2743200" cy="2743200"/>
          </a:xfrm>
          <a:prstGeom prst="roundRect">
            <a:avLst/>
          </a:prstGeom>
          <a:solidFill>
            <a:srgbClr val="E8F5E9"/>
          </a:solidFill>
          <a:ln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33333"/>
                </a:solidFill>
              </a:defRPr>
            </a:pPr>
            <a:r>
              <a:t>FASE 2: Resiliencia</a:t>
            </a:r>
          </a:p>
          <a:p>
            <a:pPr algn="ctr">
              <a:defRPr sz="1300">
                <a:solidFill>
                  <a:srgbClr val="333333"/>
                </a:solidFill>
              </a:defRPr>
            </a:pPr>
          </a:p>
          <a:p>
            <a:pPr algn="ctr">
              <a:defRPr sz="1300">
                <a:solidFill>
                  <a:srgbClr val="333333"/>
                </a:solidFill>
              </a:defRPr>
            </a:pPr>
            <a:r>
              <a:t>• Retry con Polly + circuit breaker</a:t>
            </a:r>
          </a:p>
          <a:p>
            <a:pPr algn="ctr">
              <a:defRPr sz="1300">
                <a:solidFill>
                  <a:srgbClr val="333333"/>
                </a:solidFill>
              </a:defRPr>
            </a:pPr>
            <a:r>
              <a:t>• Dead-letter queue para sync</a:t>
            </a:r>
          </a:p>
          <a:p>
            <a:pPr algn="ctr">
              <a:defRPr sz="1300">
                <a:solidFill>
                  <a:srgbClr val="333333"/>
                </a:solidFill>
              </a:defRPr>
            </a:pPr>
            <a:r>
              <a:t>• Health checks avanzados</a:t>
            </a:r>
          </a:p>
          <a:p>
            <a:pPr algn="ctr">
              <a:defRPr sz="1300">
                <a:solidFill>
                  <a:srgbClr val="333333"/>
                </a:solidFill>
              </a:defRPr>
            </a:pPr>
            <a:r>
              <a:t>• Outbox backlog monitoring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371600"/>
            <a:ext cx="2743200" cy="2743200"/>
          </a:xfrm>
          <a:prstGeom prst="roundRect">
            <a:avLst/>
          </a:prstGeom>
          <a:solidFill>
            <a:srgbClr val="FFF9C4"/>
          </a:solidFill>
          <a:ln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33333"/>
                </a:solidFill>
              </a:defRPr>
            </a:pPr>
            <a:r>
              <a:t>FASE 3: Observabilidad</a:t>
            </a:r>
          </a:p>
          <a:p>
            <a:pPr algn="ctr">
              <a:defRPr sz="1300">
                <a:solidFill>
                  <a:srgbClr val="333333"/>
                </a:solidFill>
              </a:defRPr>
            </a:pPr>
          </a:p>
          <a:p>
            <a:pPr algn="ctr">
              <a:defRPr sz="1300">
                <a:solidFill>
                  <a:srgbClr val="333333"/>
                </a:solidFill>
              </a:defRPr>
            </a:pPr>
            <a:r>
              <a:t>• OpenTelemetry (tracing)</a:t>
            </a:r>
          </a:p>
          <a:p>
            <a:pPr algn="ctr">
              <a:defRPr sz="1300">
                <a:solidFill>
                  <a:srgbClr val="333333"/>
                </a:solidFill>
              </a:defRPr>
            </a:pPr>
            <a:r>
              <a:t>• Métricas de sync</a:t>
            </a:r>
          </a:p>
          <a:p>
            <a:pPr algn="ctr">
              <a:defRPr sz="1300">
                <a:solidFill>
                  <a:srgbClr val="333333"/>
                </a:solidFill>
              </a:defRPr>
            </a:pPr>
            <a:r>
              <a:t>• Dashboard de estado</a:t>
            </a:r>
          </a:p>
          <a:p>
            <a:pPr algn="ctr">
              <a:defRPr sz="1300">
                <a:solidFill>
                  <a:srgbClr val="333333"/>
                </a:solidFill>
              </a:defRPr>
            </a:pPr>
            <a:r>
              <a:t>• Alertas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235440" y="1371600"/>
            <a:ext cx="2743200" cy="2743200"/>
          </a:xfrm>
          <a:prstGeom prst="roundRect">
            <a:avLst/>
          </a:prstGeom>
          <a:solidFill>
            <a:srgbClr val="FCE4EC"/>
          </a:solidFill>
          <a:ln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33333"/>
                </a:solidFill>
              </a:defRPr>
            </a:pPr>
            <a:r>
              <a:t>FASE 4: Escalabilidad</a:t>
            </a:r>
          </a:p>
          <a:p>
            <a:pPr algn="ctr">
              <a:defRPr sz="1300">
                <a:solidFill>
                  <a:srgbClr val="333333"/>
                </a:solidFill>
              </a:defRPr>
            </a:pPr>
          </a:p>
          <a:p>
            <a:pPr algn="ctr">
              <a:defRPr sz="1300">
                <a:solidFill>
                  <a:srgbClr val="333333"/>
                </a:solidFill>
              </a:defRPr>
            </a:pPr>
            <a:r>
              <a:t>• Multi-tenancy (por tienda)</a:t>
            </a:r>
          </a:p>
          <a:p>
            <a:pPr algn="ctr">
              <a:defRPr sz="1300">
                <a:solidFill>
                  <a:srgbClr val="333333"/>
                </a:solidFill>
              </a:defRPr>
            </a:pPr>
            <a:r>
              <a:t>• Semantic versioning + ApiCompat</a:t>
            </a:r>
          </a:p>
          <a:p>
            <a:pPr algn="ctr">
              <a:defRPr sz="1300">
                <a:solidFill>
                  <a:srgbClr val="333333"/>
                </a:solidFill>
              </a:defRPr>
            </a:pPr>
            <a:r>
              <a:t>• CDC (Debezium) para alto volumen</a:t>
            </a:r>
          </a:p>
          <a:p>
            <a:pPr algn="ctr">
              <a:defRPr sz="1300">
                <a:solidFill>
                  <a:srgbClr val="333333"/>
                </a:solidFill>
              </a:defRPr>
            </a:pPr>
            <a:r>
              <a:t>• Pull path (Cloud→Local)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228600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666666"/>
                </a:solidFill>
              </a:defRPr>
            </a:pPr>
            <a: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228600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666666"/>
                </a:solidFill>
              </a:defRPr>
            </a:pPr>
            <a: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0" y="228600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666666"/>
                </a:solidFill>
              </a:defRPr>
            </a:pPr>
            <a: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5720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A237E"/>
                </a:solidFill>
              </a:defRPr>
            </a:pPr>
            <a:r>
              <a:t>Prioridad: Fase 1 es prerequisito para producción. Fases 2-4 son incrementales.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Conclusión y Recomendación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El POC demuestra que es viable: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Mantener UNA SOLA base de código para múltiples contextos de despliegue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Distribuir módulos como NuGet con switch automático dev/CI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Sincronizar datos local → cloud con outbox pattern sin infraestructura adicional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Operar offline-first con resiliencia automática ante caídas de red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Evolucionar gradualmente de monolito modular a microservicios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4572000"/>
            <a:ext cx="6400800" cy="1828800"/>
          </a:xfrm>
          <a:prstGeom prst="roundRect">
            <a:avLst/>
          </a:prstGeom>
          <a:solidFill>
            <a:srgbClr val="1A237E"/>
          </a:solidFill>
          <a:ln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RECOMENDACIÓN</a:t>
            </a:r>
          </a:p>
          <a:p>
            <a:pPr algn="ctr">
              <a:defRPr sz="1800">
                <a:solidFill>
                  <a:srgbClr val="FFFFFF"/>
                </a:solidFill>
              </a:defRPr>
            </a:pPr>
          </a:p>
          <a:p>
            <a:pPr algn="ctr">
              <a:defRPr sz="1800">
                <a:solidFill>
                  <a:srgbClr val="FFFFFF"/>
                </a:solidFill>
              </a:defRPr>
            </a:pPr>
            <a:r>
              <a:t>Proceder con Fase 1 (Hardening)</a:t>
            </a:r>
          </a:p>
          <a:p>
            <a:pPr algn="ctr">
              <a:defRPr sz="1800">
                <a:solidFill>
                  <a:srgbClr val="FFFFFF"/>
                </a:solidFill>
              </a:defRPr>
            </a:pPr>
            <a:r>
              <a:t>y adoptar este patrón como estándar</a:t>
            </a:r>
          </a:p>
          <a:p>
            <a:pPr algn="ctr">
              <a:defRPr sz="1800">
                <a:solidFill>
                  <a:srgbClr val="FFFFFF"/>
                </a:solidFill>
              </a:defRPr>
            </a:pPr>
            <a:r>
              <a:t>para los módulos POS de SIESA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